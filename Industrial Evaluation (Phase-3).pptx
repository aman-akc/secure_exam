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0" r:id="rId4"/>
    <p:sldId id="261" r:id="rId5"/>
    <p:sldId id="262" r:id="rId6"/>
    <p:sldId id="263" r:id="rId7"/>
    <p:sldId id="259" r:id="rId8"/>
    <p:sldId id="269" r:id="rId9"/>
    <p:sldId id="270" r:id="rId10"/>
    <p:sldId id="271" r:id="rId11"/>
    <p:sldId id="272" r:id="rId12"/>
    <p:sldId id="27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9052F67-1886-4078-B741-BECEF5714EF9}">
          <p14:sldIdLst>
            <p14:sldId id="256"/>
            <p14:sldId id="257"/>
            <p14:sldId id="260"/>
            <p14:sldId id="261"/>
            <p14:sldId id="262"/>
            <p14:sldId id="263"/>
            <p14:sldId id="259"/>
            <p14:sldId id="269"/>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95" d="100"/>
          <a:sy n="95" d="100"/>
        </p:scale>
        <p:origin x="11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3329695-099B-4D74-9F2B-4F10035436A7}" type="datetimeFigureOut">
              <a:rPr lang="en-IN" smtClean="0"/>
              <a:t>27-09-2025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5CB168-C1DD-435E-A871-6514E8C6B715}"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3329695-099B-4D74-9F2B-4F10035436A7}" type="datetimeFigureOut">
              <a:rPr lang="en-IN" smtClean="0"/>
              <a:t>27-09-2025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5CB168-C1DD-435E-A871-6514E8C6B715}"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3329695-099B-4D74-9F2B-4F10035436A7}" type="datetimeFigureOut">
              <a:rPr lang="en-IN" smtClean="0"/>
              <a:t>27-09-2025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5CB168-C1DD-435E-A871-6514E8C6B715}"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3329695-099B-4D74-9F2B-4F10035436A7}" type="datetimeFigureOut">
              <a:rPr lang="en-IN" smtClean="0"/>
              <a:t>27-09-2025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5CB168-C1DD-435E-A871-6514E8C6B715}"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3329695-099B-4D74-9F2B-4F10035436A7}" type="datetimeFigureOut">
              <a:rPr lang="en-IN" smtClean="0"/>
              <a:t>27-09-2025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C5CB168-C1DD-435E-A871-6514E8C6B715}"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3329695-099B-4D74-9F2B-4F10035436A7}" type="datetimeFigureOut">
              <a:rPr lang="en-IN" smtClean="0"/>
              <a:t>27-09-2025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C5CB168-C1DD-435E-A871-6514E8C6B715}"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329695-099B-4D74-9F2B-4F10035436A7}" type="datetimeFigureOut">
              <a:rPr lang="en-IN" smtClean="0"/>
              <a:t>27-09-2025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C5CB168-C1DD-435E-A871-6514E8C6B715}"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3329695-099B-4D74-9F2B-4F10035436A7}" type="datetimeFigureOut">
              <a:rPr lang="en-IN" smtClean="0"/>
              <a:t>27-09-2025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5CB168-C1DD-435E-A871-6514E8C6B715}"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3329695-099B-4D74-9F2B-4F10035436A7}" type="datetimeFigureOut">
              <a:rPr lang="en-IN" smtClean="0"/>
              <a:t>27-09-2025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5CB168-C1DD-435E-A871-6514E8C6B715}"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3329695-099B-4D74-9F2B-4F10035436A7}" type="datetimeFigureOut">
              <a:rPr lang="en-IN" smtClean="0"/>
              <a:t>27-09-2025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5CB168-C1DD-435E-A871-6514E8C6B715}"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3329695-099B-4D74-9F2B-4F10035436A7}" type="datetimeFigureOut">
              <a:rPr lang="en-IN" smtClean="0"/>
              <a:t>27-09-2025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5CB168-C1DD-435E-A871-6514E8C6B715}"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329695-099B-4D74-9F2B-4F10035436A7}" type="datetimeFigureOut">
              <a:rPr lang="en-IN" smtClean="0"/>
              <a:t>27-09-2025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5CB168-C1DD-435E-A871-6514E8C6B715}"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2075725" y="2429728"/>
            <a:ext cx="8849002" cy="731473"/>
          </a:xfrm>
          <a:prstGeom prst="rect">
            <a:avLst/>
          </a:prstGeom>
        </p:spPr>
        <p:txBody>
          <a:bodyPr vert="horz" lIns="91440" tIns="45720" rIns="91440" bIns="45720" rtlCol="0" anchor="b">
            <a:normAutofit fontScale="2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br>
              <a:rPr lang="en-IN" sz="3600" b="1" dirty="0">
                <a:latin typeface="Times New Roman" panose="02020603050405020304" pitchFamily="18" charset="0"/>
                <a:cs typeface="Times New Roman" panose="02020603050405020304" pitchFamily="18" charset="0"/>
              </a:rPr>
            </a:br>
            <a:br>
              <a:rPr lang="en-IN" sz="3600" b="1"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  </a:t>
            </a:r>
            <a:br>
              <a:rPr lang="en-IN" sz="3600" b="1" dirty="0">
                <a:latin typeface="Times New Roman" panose="02020603050405020304" pitchFamily="18" charset="0"/>
                <a:cs typeface="Times New Roman" panose="02020603050405020304" pitchFamily="18" charset="0"/>
              </a:rPr>
            </a:br>
            <a:br>
              <a:rPr lang="en-IN" sz="3600" b="1" dirty="0">
                <a:latin typeface="Times New Roman" panose="02020603050405020304" pitchFamily="18" charset="0"/>
                <a:cs typeface="Times New Roman" panose="02020603050405020304" pitchFamily="18" charset="0"/>
              </a:rPr>
            </a:br>
            <a:br>
              <a:rPr lang="en-IN" sz="3600" b="1" dirty="0">
                <a:latin typeface="Times New Roman" panose="02020603050405020304" pitchFamily="18" charset="0"/>
                <a:cs typeface="Times New Roman" panose="02020603050405020304" pitchFamily="18" charset="0"/>
              </a:rPr>
            </a:br>
            <a:br>
              <a:rPr lang="en-IN" sz="3600" b="1" dirty="0">
                <a:latin typeface="Times New Roman" panose="02020603050405020304" pitchFamily="18" charset="0"/>
                <a:cs typeface="Times New Roman" panose="02020603050405020304" pitchFamily="18" charset="0"/>
              </a:rPr>
            </a:br>
            <a:br>
              <a:rPr lang="en-IN" sz="3600" b="1" dirty="0">
                <a:latin typeface="Times New Roman" panose="02020603050405020304" pitchFamily="18" charset="0"/>
                <a:cs typeface="Times New Roman" panose="02020603050405020304" pitchFamily="18" charset="0"/>
              </a:rPr>
            </a:br>
            <a:br>
              <a:rPr lang="en-IN" sz="3600" b="1" dirty="0">
                <a:latin typeface="Times New Roman" panose="02020603050405020304" pitchFamily="18" charset="0"/>
                <a:cs typeface="Times New Roman" panose="02020603050405020304" pitchFamily="18" charset="0"/>
              </a:rPr>
            </a:br>
            <a:br>
              <a:rPr lang="en-IN" sz="3600" b="1" dirty="0">
                <a:latin typeface="Times New Roman" panose="02020603050405020304" pitchFamily="18" charset="0"/>
                <a:cs typeface="Times New Roman" panose="02020603050405020304" pitchFamily="18" charset="0"/>
              </a:rPr>
            </a:br>
            <a:br>
              <a:rPr lang="en-IN" sz="2900" b="1" dirty="0">
                <a:latin typeface="Times New Roman" panose="02020603050405020304" pitchFamily="18" charset="0"/>
                <a:cs typeface="Times New Roman" panose="02020603050405020304" pitchFamily="18" charset="0"/>
              </a:rPr>
            </a:br>
            <a:r>
              <a:rPr lang="en-US" sz="9600" b="1" dirty="0">
                <a:latin typeface="Arial" panose="020B0604020202020204" pitchFamily="34" charset="0"/>
                <a:cs typeface="Arial" panose="020B0604020202020204" pitchFamily="34" charset="0"/>
              </a:rPr>
              <a:t>Title</a:t>
            </a:r>
            <a:r>
              <a:rPr lang="en-US" sz="9600" b="1" dirty="0">
                <a:solidFill>
                  <a:srgbClr val="800020"/>
                </a:solidFill>
                <a:latin typeface="Arial" panose="020B0604020202020204" pitchFamily="34" charset="0"/>
                <a:cs typeface="Arial" panose="020B0604020202020204" pitchFamily="34" charset="0"/>
              </a:rPr>
              <a:t>: Secured Examination System</a:t>
            </a:r>
            <a:endParaRPr lang="en-IN" sz="9600" dirty="0">
              <a:solidFill>
                <a:srgbClr val="800020"/>
              </a:solidFill>
              <a:latin typeface="Arial" panose="020B0604020202020204" pitchFamily="34" charset="0"/>
              <a:cs typeface="Arial" panose="020B0604020202020204" pitchFamily="34" charset="0"/>
            </a:endParaRPr>
          </a:p>
        </p:txBody>
      </p:sp>
      <p:sp>
        <p:nvSpPr>
          <p:cNvPr id="6" name="Footer Placeholder 5"/>
          <p:cNvSpPr>
            <a:spLocks noGrp="1"/>
          </p:cNvSpPr>
          <p:nvPr>
            <p:ph type="ftr" sz="quarter" idx="11"/>
          </p:nvPr>
        </p:nvSpPr>
        <p:spPr>
          <a:xfrm flipH="1">
            <a:off x="6577939" y="4334881"/>
            <a:ext cx="5638801" cy="2216368"/>
          </a:xfrm>
        </p:spPr>
        <p:txBody>
          <a:bodyPr/>
          <a:lstStyle/>
          <a:p>
            <a:pPr algn="l"/>
            <a:r>
              <a:rPr lang="en-IN" sz="1800" b="1" dirty="0">
                <a:solidFill>
                  <a:schemeClr val="tx1"/>
                </a:solidFill>
                <a:latin typeface="Arial" panose="020B0604020202020204" pitchFamily="34" charset="0"/>
                <a:cs typeface="Arial" panose="020B0604020202020204" pitchFamily="34" charset="0"/>
              </a:rPr>
              <a:t>Team members</a:t>
            </a:r>
          </a:p>
          <a:p>
            <a:pPr algn="l"/>
            <a:r>
              <a:rPr lang="en-IN" sz="1800" dirty="0">
                <a:solidFill>
                  <a:schemeClr val="tx1"/>
                </a:solidFill>
                <a:latin typeface="Arial" panose="020B0604020202020204" pitchFamily="34" charset="0"/>
                <a:cs typeface="Arial" panose="020B0604020202020204" pitchFamily="34" charset="0"/>
              </a:rPr>
              <a:t>• Chandrahas Suresh Gaddi	1SI22CS047</a:t>
            </a:r>
          </a:p>
          <a:p>
            <a:pPr algn="l"/>
            <a:r>
              <a:rPr lang="en-IN" sz="1800" dirty="0">
                <a:solidFill>
                  <a:schemeClr val="tx1"/>
                </a:solidFill>
                <a:latin typeface="Arial" panose="020B0604020202020204" pitchFamily="34" charset="0"/>
                <a:cs typeface="Arial" panose="020B0604020202020204" pitchFamily="34" charset="0"/>
              </a:rPr>
              <a:t>• Harshith Kumar H S		1SI22CS067</a:t>
            </a:r>
          </a:p>
          <a:p>
            <a:pPr algn="l"/>
            <a:r>
              <a:rPr lang="en-IN" sz="1800" dirty="0">
                <a:solidFill>
                  <a:schemeClr val="tx1"/>
                </a:solidFill>
                <a:latin typeface="Arial" panose="020B0604020202020204" pitchFamily="34" charset="0"/>
                <a:cs typeface="Arial" panose="020B0604020202020204" pitchFamily="34" charset="0"/>
              </a:rPr>
              <a:t>• Aman Kumar Chauhan		1SI22CS015</a:t>
            </a:r>
          </a:p>
          <a:p>
            <a:pPr algn="l"/>
            <a:r>
              <a:rPr lang="en-IN" sz="1800" dirty="0">
                <a:solidFill>
                  <a:schemeClr val="tx1"/>
                </a:solidFill>
                <a:latin typeface="Arial" panose="020B0604020202020204" pitchFamily="34" charset="0"/>
                <a:cs typeface="Arial" panose="020B0604020202020204" pitchFamily="34" charset="0"/>
              </a:rPr>
              <a:t>• Harsha D T			1SI22CS065</a:t>
            </a:r>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a:xfrm>
            <a:off x="369555" y="423922"/>
            <a:ext cx="1615112" cy="1297858"/>
          </a:xfrm>
          <a:prstGeom prst="rect">
            <a:avLst/>
          </a:prstGeom>
          <a:noFill/>
          <a:ln>
            <a:noFill/>
          </a:ln>
        </p:spPr>
      </p:pic>
      <p:sp>
        <p:nvSpPr>
          <p:cNvPr id="8" name="TextBox 7"/>
          <p:cNvSpPr txBox="1"/>
          <p:nvPr/>
        </p:nvSpPr>
        <p:spPr>
          <a:xfrm>
            <a:off x="2075725" y="423922"/>
            <a:ext cx="8920601" cy="1538883"/>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Siddaganga Institute of Technology, Tumakuru-3</a:t>
            </a:r>
            <a:br>
              <a:rPr lang="en-IN" sz="2400" b="1" dirty="0">
                <a:latin typeface="Arial" panose="020B0604020202020204" pitchFamily="34" charset="0"/>
                <a:cs typeface="Arial" panose="020B0604020202020204" pitchFamily="34" charset="0"/>
              </a:rPr>
            </a:br>
            <a:r>
              <a:rPr lang="en-US" sz="1800" b="1" dirty="0">
                <a:latin typeface="Arial" panose="020B0604020202020204" pitchFamily="34" charset="0"/>
                <a:cs typeface="Arial" panose="020B0604020202020204" pitchFamily="34" charset="0"/>
              </a:rPr>
              <a:t>(An autonomous institution affiliated to VTU, Belagavi)</a:t>
            </a:r>
            <a:br>
              <a:rPr lang="en-IN" sz="1800" b="1" dirty="0">
                <a:latin typeface="Arial" panose="020B0604020202020204" pitchFamily="34" charset="0"/>
                <a:cs typeface="Arial" panose="020B0604020202020204" pitchFamily="34" charset="0"/>
              </a:rPr>
            </a:br>
            <a:r>
              <a:rPr lang="en-US" sz="2400" b="1" dirty="0">
                <a:latin typeface="Arial" panose="020B0604020202020204" pitchFamily="34" charset="0"/>
                <a:cs typeface="Arial" panose="020B0604020202020204" pitchFamily="34" charset="0"/>
              </a:rPr>
              <a:t>2024-25</a:t>
            </a:r>
            <a:br>
              <a:rPr lang="en-IN" sz="2400" b="1" dirty="0">
                <a:latin typeface="Arial" panose="020B0604020202020204" pitchFamily="34" charset="0"/>
                <a:cs typeface="Arial" panose="020B0604020202020204" pitchFamily="34" charset="0"/>
              </a:rPr>
            </a:br>
            <a:r>
              <a:rPr lang="en-IN" sz="2400" b="1" dirty="0">
                <a:latin typeface="Arial" panose="020B0604020202020204" pitchFamily="34" charset="0"/>
                <a:cs typeface="Arial" panose="020B0604020202020204" pitchFamily="34" charset="0"/>
              </a:rPr>
              <a:t>Department of Computer Science </a:t>
            </a:r>
            <a:endParaRPr lang="en-IN" dirty="0">
              <a:latin typeface="Arial" panose="020B0604020202020204" pitchFamily="34" charset="0"/>
              <a:cs typeface="Arial" panose="020B0604020202020204" pitchFamily="34" charset="0"/>
            </a:endParaRPr>
          </a:p>
        </p:txBody>
      </p:sp>
      <p:sp>
        <p:nvSpPr>
          <p:cNvPr id="3" name="TextBox 2"/>
          <p:cNvSpPr txBox="1"/>
          <p:nvPr/>
        </p:nvSpPr>
        <p:spPr>
          <a:xfrm>
            <a:off x="1177111" y="4895196"/>
            <a:ext cx="3037840" cy="1677382"/>
          </a:xfrm>
          <a:prstGeom prst="rect">
            <a:avLst/>
          </a:prstGeom>
          <a:noFill/>
        </p:spPr>
        <p:txBody>
          <a:bodyPr wrap="square" rtlCol="0">
            <a:spAutoFit/>
          </a:bodyPr>
          <a:lstStyle/>
          <a:p>
            <a:pPr algn="ctr">
              <a:spcAft>
                <a:spcPts val="590"/>
              </a:spcAft>
            </a:pPr>
            <a:r>
              <a:rPr lang="en-IN" altLang="en-US" b="1" dirty="0">
                <a:latin typeface="Arial" panose="020B0604020202020204" pitchFamily="34" charset="0"/>
                <a:cs typeface="Arial" panose="020B0604020202020204" pitchFamily="34" charset="0"/>
              </a:rPr>
              <a:t>Under the Guidance of :</a:t>
            </a:r>
          </a:p>
          <a:p>
            <a:r>
              <a:rPr lang="fi-FI" sz="2000" b="0" i="0" dirty="0">
                <a:solidFill>
                  <a:srgbClr val="0D6E9E"/>
                </a:solidFill>
                <a:effectLst/>
                <a:latin typeface="Open Sans" panose="020B0606030504020204" pitchFamily="34" charset="0"/>
              </a:rPr>
              <a:t>  Dr T. M. Kiran Kumar</a:t>
            </a:r>
          </a:p>
          <a:p>
            <a:r>
              <a:rPr lang="en-IN" sz="2000" b="0" i="0" dirty="0">
                <a:solidFill>
                  <a:srgbClr val="565656"/>
                </a:solidFill>
                <a:effectLst/>
                <a:latin typeface="Arial" panose="020B0604020202020204" pitchFamily="34" charset="0"/>
              </a:rPr>
              <a:t>    Assistant Professor</a:t>
            </a:r>
            <a:endParaRPr lang="fi-FI" sz="2000" b="0" i="0" dirty="0">
              <a:solidFill>
                <a:srgbClr val="0D6E9E"/>
              </a:solidFill>
              <a:effectLst/>
              <a:latin typeface="Open Sans" panose="020B0606030504020204" pitchFamily="34" charset="0"/>
            </a:endParaRPr>
          </a:p>
          <a:p>
            <a:r>
              <a:rPr lang="en-IN" sz="2000" dirty="0">
                <a:latin typeface="Times New Roman" panose="02020603050405020304" pitchFamily="18" charset="0"/>
                <a:cs typeface="Times New Roman" panose="02020603050405020304" pitchFamily="18" charset="0"/>
              </a:rPr>
              <a:t> </a:t>
            </a:r>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5414293" y="3547986"/>
            <a:ext cx="2243464"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     </a:t>
            </a:r>
            <a:r>
              <a:rPr lang="en-IN" sz="2000" dirty="0">
                <a:latin typeface="Arial" panose="020B0604020202020204" pitchFamily="34" charset="0"/>
                <a:cs typeface="Arial" panose="020B0604020202020204" pitchFamily="34" charset="0"/>
              </a:rPr>
              <a:t>Batch id:B21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18052" y="159026"/>
            <a:ext cx="2433100" cy="935315"/>
          </a:xfrm>
        </p:spPr>
        <p:txBody>
          <a:bodyPr>
            <a:normAutofit/>
          </a:bodyPr>
          <a:lstStyle/>
          <a:p>
            <a:r>
              <a:rPr lang="en-IN" sz="3200" b="1" dirty="0">
                <a:solidFill>
                  <a:srgbClr val="0070C0"/>
                </a:solidFill>
                <a:latin typeface="Times New Roman" panose="02020603050405020304" pitchFamily="18" charset="0"/>
                <a:cs typeface="Times New Roman" panose="02020603050405020304" pitchFamily="18" charset="0"/>
              </a:rPr>
              <a:t>Introduction</a:t>
            </a:r>
          </a:p>
        </p:txBody>
      </p:sp>
      <p:sp>
        <p:nvSpPr>
          <p:cNvPr id="3" name="Rectangle 2"/>
          <p:cNvSpPr>
            <a:spLocks noChangeArrowheads="1"/>
          </p:cNvSpPr>
          <p:nvPr/>
        </p:nvSpPr>
        <p:spPr bwMode="auto">
          <a:xfrm rot="10800000" flipV="1">
            <a:off x="410546" y="1019441"/>
            <a:ext cx="11467319"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 Problem Statement</a:t>
            </a:r>
          </a:p>
          <a:p>
            <a:pPr marL="0" marR="0" lvl="0" indent="0" algn="just" defTabSz="914400" rtl="0" eaLnBrk="0" fontAlgn="base" latinLnBrk="0" hangingPunct="0">
              <a:lnSpc>
                <a:spcPct val="100000"/>
              </a:lnSpc>
              <a:spcBef>
                <a:spcPct val="0"/>
              </a:spcBef>
              <a:spcAft>
                <a:spcPct val="0"/>
              </a:spcAft>
              <a:buClrTx/>
              <a:buSzTx/>
            </a:pP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Despite the widespread integration of digital tools in education, examination systems in many academic institutions continue to depend on outdated, manual processes that are vulnerable to a range of security threats. Issues such as question paper leaks, unauthorized access, and result manipulation compromise the credibility and integrity of assessments. With the growing demand for remote and online education, there is an urgent need for a secure, scalable, and fully online examination system. Current solutions often lack robust mechanisms to ensure data integrity, secure user authentication, and efficient exam management. Therefore, there is a critical need for a modern, technology-driven examination platform that guarantees confidentiality</a:t>
            </a:r>
            <a:r>
              <a:rPr lang="en-US" altLang="en-US" dirty="0">
                <a:latin typeface="Arial" panose="020B0604020202020204" pitchFamily="34" charset="0"/>
              </a:rPr>
              <a:t> and</a:t>
            </a:r>
            <a:r>
              <a:rPr kumimoji="0" lang="en-US" altLang="en-US" sz="1800" b="0" i="0" u="none" strike="noStrike" cap="none" normalizeH="0" baseline="0" dirty="0">
                <a:ln>
                  <a:noFill/>
                </a:ln>
                <a:solidFill>
                  <a:schemeClr val="tx1"/>
                </a:solidFill>
                <a:effectLst/>
                <a:latin typeface="Arial" panose="020B0604020202020204" pitchFamily="34" charset="0"/>
              </a:rPr>
              <a:t> authenticity throughout the assessment lifecycle.</a:t>
            </a: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 Proposed Solution</a:t>
            </a:r>
          </a:p>
          <a:p>
            <a:pPr marL="0" marR="0" lvl="0" indent="0" algn="just" defTabSz="914400" rtl="0" eaLnBrk="0" fontAlgn="base" latinLnBrk="0" hangingPunct="0">
              <a:lnSpc>
                <a:spcPct val="1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 secure, blockchain similar online exam platform focused on MCQs, utilizing encrypted question paper distribution.</a:t>
            </a: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 Technology Stack</a:t>
            </a:r>
          </a:p>
          <a:p>
            <a:pPr marL="0" marR="0" lvl="0" indent="0" algn="just" defTabSz="914400" rtl="0" eaLnBrk="0" fontAlgn="base" latinLnBrk="0" hangingPunct="0">
              <a:lnSpc>
                <a:spcPct val="100000"/>
              </a:lnSpc>
              <a:spcBef>
                <a:spcPct val="0"/>
              </a:spcBef>
              <a:spcAft>
                <a:spcPct val="0"/>
              </a:spcAft>
              <a:buClrTx/>
              <a:buSzTx/>
            </a:pP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Built with React.js, Node.js, Express.js, and MongoDB. Uses JWT and </a:t>
            </a:r>
            <a:r>
              <a:rPr kumimoji="0" lang="en-US" altLang="en-US" sz="1800" b="0" i="0" u="none" strike="noStrike" cap="none" normalizeH="0" baseline="0" dirty="0" err="1">
                <a:ln>
                  <a:noFill/>
                </a:ln>
                <a:solidFill>
                  <a:schemeClr val="tx1"/>
                </a:solidFill>
                <a:effectLst/>
                <a:latin typeface="Arial" panose="020B0604020202020204" pitchFamily="34" charset="0"/>
              </a:rPr>
              <a:t>bcrypt</a:t>
            </a:r>
            <a:r>
              <a:rPr kumimoji="0" lang="en-US" altLang="en-US" sz="1800" b="0" i="0" u="none" strike="noStrike" cap="none" normalizeH="0" baseline="0" dirty="0">
                <a:ln>
                  <a:noFill/>
                </a:ln>
                <a:solidFill>
                  <a:schemeClr val="tx1"/>
                </a:solidFill>
                <a:effectLst/>
                <a:latin typeface="Arial" panose="020B0604020202020204" pitchFamily="34" charset="0"/>
              </a:rPr>
              <a:t> for authentication, and stores encrypted exam data and results on blockchain like structure to prevent tampering.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358775" y="412833"/>
            <a:ext cx="10512425" cy="1323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spcBef>
                <a:spcPts val="40"/>
              </a:spcBef>
              <a:spcAft>
                <a:spcPts val="4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spcBef>
                <a:spcPts val="40"/>
              </a:spcBef>
              <a:spcAft>
                <a:spcPts val="4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spcBef>
                <a:spcPts val="40"/>
              </a:spcBef>
              <a:spcAft>
                <a:spcPts val="4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spcBef>
                <a:spcPts val="40"/>
              </a:spcBef>
              <a:spcAft>
                <a:spcPts val="4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9pPr>
          </a:lstStyle>
          <a:p>
            <a:pPr eaLnBrk="1" hangingPunct="1">
              <a:lnSpc>
                <a:spcPct val="90000"/>
              </a:lnSpc>
              <a:buClrTx/>
              <a:buFontTx/>
              <a:buNone/>
            </a:pPr>
            <a:r>
              <a:rPr lang="en-IN" altLang="en-US" sz="3200" b="1" dirty="0">
                <a:solidFill>
                  <a:srgbClr val="0070C0"/>
                </a:solidFill>
                <a:latin typeface="Times New Roman" panose="02020603050405020304" pitchFamily="18" charset="0"/>
              </a:rPr>
              <a:t>Literature Survey </a:t>
            </a:r>
          </a:p>
        </p:txBody>
      </p:sp>
      <p:graphicFrame>
        <p:nvGraphicFramePr>
          <p:cNvPr id="6" name="Group 2"/>
          <p:cNvGraphicFramePr>
            <a:graphicFrameLocks noGrp="1"/>
          </p:cNvGraphicFramePr>
          <p:nvPr/>
        </p:nvGraphicFramePr>
        <p:xfrm>
          <a:off x="358775" y="1855788"/>
          <a:ext cx="11698288" cy="3148321"/>
        </p:xfrm>
        <a:graphic>
          <a:graphicData uri="http://schemas.openxmlformats.org/drawingml/2006/table">
            <a:tbl>
              <a:tblPr/>
              <a:tblGrid>
                <a:gridCol w="409575">
                  <a:extLst>
                    <a:ext uri="{9D8B030D-6E8A-4147-A177-3AD203B41FA5}">
                      <a16:colId xmlns:a16="http://schemas.microsoft.com/office/drawing/2014/main" val="20000"/>
                    </a:ext>
                  </a:extLst>
                </a:gridCol>
                <a:gridCol w="1989138">
                  <a:extLst>
                    <a:ext uri="{9D8B030D-6E8A-4147-A177-3AD203B41FA5}">
                      <a16:colId xmlns:a16="http://schemas.microsoft.com/office/drawing/2014/main" val="20001"/>
                    </a:ext>
                  </a:extLst>
                </a:gridCol>
                <a:gridCol w="1423987">
                  <a:extLst>
                    <a:ext uri="{9D8B030D-6E8A-4147-A177-3AD203B41FA5}">
                      <a16:colId xmlns:a16="http://schemas.microsoft.com/office/drawing/2014/main" val="20002"/>
                    </a:ext>
                  </a:extLst>
                </a:gridCol>
                <a:gridCol w="1966913">
                  <a:extLst>
                    <a:ext uri="{9D8B030D-6E8A-4147-A177-3AD203B41FA5}">
                      <a16:colId xmlns:a16="http://schemas.microsoft.com/office/drawing/2014/main" val="20003"/>
                    </a:ext>
                  </a:extLst>
                </a:gridCol>
                <a:gridCol w="2551112">
                  <a:extLst>
                    <a:ext uri="{9D8B030D-6E8A-4147-A177-3AD203B41FA5}">
                      <a16:colId xmlns:a16="http://schemas.microsoft.com/office/drawing/2014/main" val="20004"/>
                    </a:ext>
                  </a:extLst>
                </a:gridCol>
                <a:gridCol w="3357563">
                  <a:extLst>
                    <a:ext uri="{9D8B030D-6E8A-4147-A177-3AD203B41FA5}">
                      <a16:colId xmlns:a16="http://schemas.microsoft.com/office/drawing/2014/main" val="20005"/>
                    </a:ext>
                  </a:extLst>
                </a:gridCol>
              </a:tblGrid>
              <a:tr h="708025">
                <a:tc>
                  <a:txBody>
                    <a:bodyPr/>
                    <a:lstStyle>
                      <a:lvl1pPr>
                        <a:lnSpc>
                          <a:spcPct val="93000"/>
                        </a:lnSpc>
                        <a:spcBef>
                          <a:spcPts val="145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1" fontAlgn="base" latinLnBrk="0" hangingPunct="0">
                        <a:lnSpc>
                          <a:spcPct val="93000"/>
                        </a:lnSpc>
                        <a:spcBef>
                          <a:spcPts val="15"/>
                        </a:spcBef>
                        <a:spcAft>
                          <a:spcPts val="15"/>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1" i="0" u="none" strike="noStrike" cap="none" normalizeH="0" baseline="0" dirty="0">
                          <a:ln>
                            <a:noFill/>
                          </a:ln>
                          <a:solidFill>
                            <a:srgbClr val="000000"/>
                          </a:solidFill>
                          <a:effectLst/>
                          <a:latin typeface="Arial" panose="020B0604020202020204" pitchFamily="34" charset="0"/>
                          <a:cs typeface="Noto Sans CJK SC" charset="0"/>
                        </a:rPr>
                        <a:t>S.no</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IN" altLang="en-US" sz="1600" b="1" i="0" u="none" strike="noStrike" cap="none" normalizeH="0" baseline="0" dirty="0">
                          <a:ln>
                            <a:noFill/>
                          </a:ln>
                          <a:solidFill>
                            <a:srgbClr val="000000"/>
                          </a:solidFill>
                          <a:effectLst/>
                          <a:latin typeface="Times New Roman" panose="02020603050405020304" pitchFamily="18" charset="0"/>
                          <a:cs typeface="DejaVu Sans" pitchFamily="32" charset="0"/>
                        </a:rPr>
                        <a:t>Title of the Article</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IN" altLang="en-US" sz="1600" b="1" i="0" u="none" strike="noStrike" cap="none" normalizeH="0" baseline="0" dirty="0">
                          <a:ln>
                            <a:noFill/>
                          </a:ln>
                          <a:solidFill>
                            <a:srgbClr val="000000"/>
                          </a:solidFill>
                          <a:effectLst/>
                          <a:latin typeface="Times New Roman" panose="02020603050405020304" pitchFamily="18" charset="0"/>
                          <a:cs typeface="DejaVu Sans" pitchFamily="32" charset="0"/>
                        </a:rPr>
                        <a:t>Published Year</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IN" altLang="en-US" sz="1600" b="1" i="0" u="none" strike="noStrike" cap="none" normalizeH="0" baseline="0" dirty="0">
                          <a:ln>
                            <a:noFill/>
                          </a:ln>
                          <a:solidFill>
                            <a:srgbClr val="000000"/>
                          </a:solidFill>
                          <a:effectLst/>
                          <a:latin typeface="Times New Roman" panose="02020603050405020304" pitchFamily="18" charset="0"/>
                          <a:cs typeface="DejaVu Sans" pitchFamily="32" charset="0"/>
                        </a:rPr>
                        <a:t>Author, Published by</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ctr"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IN" altLang="en-US" sz="1600" b="1" i="0" u="none" strike="noStrike" cap="none" normalizeH="0" baseline="0" dirty="0">
                          <a:ln>
                            <a:noFill/>
                          </a:ln>
                          <a:solidFill>
                            <a:srgbClr val="000000"/>
                          </a:solidFill>
                          <a:effectLst/>
                          <a:latin typeface="Times New Roman" panose="02020603050405020304" pitchFamily="18" charset="0"/>
                          <a:cs typeface="DejaVu Sans" pitchFamily="32" charset="0"/>
                        </a:rPr>
                        <a:t>Objectives</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IN" altLang="en-US" sz="1600" b="1" i="0" u="none" strike="noStrike" cap="none" normalizeH="0" baseline="0" dirty="0">
                          <a:ln>
                            <a:noFill/>
                          </a:ln>
                          <a:solidFill>
                            <a:srgbClr val="000000"/>
                          </a:solidFill>
                          <a:effectLst/>
                          <a:latin typeface="Times New Roman" panose="02020603050405020304" pitchFamily="18" charset="0"/>
                          <a:cs typeface="DejaVu Sans" pitchFamily="32" charset="0"/>
                        </a:rPr>
                        <a:t>               Gap Identified</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77925">
                <a:tc>
                  <a:txBody>
                    <a:bodyPr/>
                    <a:lstStyle>
                      <a:lvl1pPr>
                        <a:lnSpc>
                          <a:spcPct val="93000"/>
                        </a:lnSpc>
                        <a:spcBef>
                          <a:spcPts val="145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1" fontAlgn="base" latinLnBrk="0" hangingPunct="0">
                        <a:lnSpc>
                          <a:spcPct val="93000"/>
                        </a:lnSpc>
                        <a:spcBef>
                          <a:spcPts val="15"/>
                        </a:spcBef>
                        <a:spcAft>
                          <a:spcPts val="15"/>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a:ln>
                            <a:noFill/>
                          </a:ln>
                          <a:solidFill>
                            <a:srgbClr val="000000"/>
                          </a:solidFill>
                          <a:effectLst/>
                          <a:latin typeface="Arial" panose="020B0604020202020204" pitchFamily="34" charset="0"/>
                          <a:cs typeface="Noto Sans CJK SC" charset="0"/>
                        </a:rPr>
                        <a:t>1</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Blockchain-based Competitive Examination System in India: Preventing Paper Leaks and Mitigating Frauds</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2024</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Anush D Kamble, Deepak A Kamble; IJIRSET</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algn="just"/>
                      <a:r>
                        <a:rPr lang="en-US" altLang="en-US" sz="1200" dirty="0">
                          <a:latin typeface="Arial" panose="020B0604020202020204" pitchFamily="34" charset="0"/>
                          <a:cs typeface="Arial" panose="020B0604020202020204" pitchFamily="34" charset="0"/>
                        </a:rPr>
                        <a:t>Proposes blockchain-based solution to prevent question paper leaks, cheating, and fraud in Indian exams. Ensures transparency, result authenticity, and tamper-proof records using cryptography and smart contracts.</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Focuses mainly on conceptual blockchain model; lacks real-world deployment, scalability, and integration challenges with existing education boards.</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77925">
                <a:tc>
                  <a:txBody>
                    <a:bodyPr/>
                    <a:lstStyle>
                      <a:lvl1pPr>
                        <a:lnSpc>
                          <a:spcPct val="93000"/>
                        </a:lnSpc>
                        <a:spcBef>
                          <a:spcPts val="145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1" fontAlgn="base" latinLnBrk="0" hangingPunct="0">
                        <a:lnSpc>
                          <a:spcPct val="93000"/>
                        </a:lnSpc>
                        <a:spcBef>
                          <a:spcPts val="15"/>
                        </a:spcBef>
                        <a:spcAft>
                          <a:spcPts val="15"/>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a:ln>
                            <a:noFill/>
                          </a:ln>
                          <a:solidFill>
                            <a:srgbClr val="000000"/>
                          </a:solidFill>
                          <a:effectLst/>
                          <a:latin typeface="Arial" panose="020B0604020202020204" pitchFamily="34" charset="0"/>
                          <a:cs typeface="Noto Sans CJK SC" charset="0"/>
                        </a:rPr>
                        <a:t>2</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A Proposed Model for Improving the Reliability of Online Exam Results Using Blockchain</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2023</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Mohamed Abdelsalam, Marwan Shokry, Amira M. Idrees; IEEE Access</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lang="en-US" altLang="en-US" sz="1200" dirty="0"/>
                        <a:t>Integrates blockchain with Moodle LMS using Ethereum smart contracts and MetaMask for tamper-proof exam data. Enhances transparency and trust in results.</a:t>
                      </a:r>
                      <a:r>
                        <a:rPr lang="en-US" sz="1200" dirty="0"/>
                        <a:t>.</a:t>
                      </a:r>
                      <a:endPar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endParaRP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Limited to Moodle integration; does not fully address large-scale exam ecosystems or offline/low-bandwidth scenarios</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358775" y="349222"/>
            <a:ext cx="10512425" cy="1323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spcBef>
                <a:spcPts val="40"/>
              </a:spcBef>
              <a:spcAft>
                <a:spcPts val="4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spcBef>
                <a:spcPts val="40"/>
              </a:spcBef>
              <a:spcAft>
                <a:spcPts val="4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spcBef>
                <a:spcPts val="40"/>
              </a:spcBef>
              <a:spcAft>
                <a:spcPts val="4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spcBef>
                <a:spcPts val="40"/>
              </a:spcBef>
              <a:spcAft>
                <a:spcPts val="4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9pPr>
          </a:lstStyle>
          <a:p>
            <a:pPr eaLnBrk="1" hangingPunct="1">
              <a:lnSpc>
                <a:spcPct val="90000"/>
              </a:lnSpc>
              <a:buClrTx/>
              <a:buFontTx/>
              <a:buNone/>
            </a:pPr>
            <a:r>
              <a:rPr lang="en-IN" altLang="en-US" sz="3800" b="1" dirty="0">
                <a:latin typeface="Times New Roman" panose="02020603050405020304" pitchFamily="18" charset="0"/>
              </a:rPr>
              <a:t> </a:t>
            </a:r>
          </a:p>
        </p:txBody>
      </p:sp>
      <p:graphicFrame>
        <p:nvGraphicFramePr>
          <p:cNvPr id="4" name="Group 2"/>
          <p:cNvGraphicFramePr>
            <a:graphicFrameLocks noGrp="1"/>
          </p:cNvGraphicFramePr>
          <p:nvPr/>
        </p:nvGraphicFramePr>
        <p:xfrm>
          <a:off x="358775" y="1855788"/>
          <a:ext cx="11698288" cy="3488427"/>
        </p:xfrm>
        <a:graphic>
          <a:graphicData uri="http://schemas.openxmlformats.org/drawingml/2006/table">
            <a:tbl>
              <a:tblPr/>
              <a:tblGrid>
                <a:gridCol w="409575">
                  <a:extLst>
                    <a:ext uri="{9D8B030D-6E8A-4147-A177-3AD203B41FA5}">
                      <a16:colId xmlns:a16="http://schemas.microsoft.com/office/drawing/2014/main" val="20000"/>
                    </a:ext>
                  </a:extLst>
                </a:gridCol>
                <a:gridCol w="1989138">
                  <a:extLst>
                    <a:ext uri="{9D8B030D-6E8A-4147-A177-3AD203B41FA5}">
                      <a16:colId xmlns:a16="http://schemas.microsoft.com/office/drawing/2014/main" val="20001"/>
                    </a:ext>
                  </a:extLst>
                </a:gridCol>
                <a:gridCol w="1423987">
                  <a:extLst>
                    <a:ext uri="{9D8B030D-6E8A-4147-A177-3AD203B41FA5}">
                      <a16:colId xmlns:a16="http://schemas.microsoft.com/office/drawing/2014/main" val="20002"/>
                    </a:ext>
                  </a:extLst>
                </a:gridCol>
                <a:gridCol w="1966913">
                  <a:extLst>
                    <a:ext uri="{9D8B030D-6E8A-4147-A177-3AD203B41FA5}">
                      <a16:colId xmlns:a16="http://schemas.microsoft.com/office/drawing/2014/main" val="20003"/>
                    </a:ext>
                  </a:extLst>
                </a:gridCol>
                <a:gridCol w="2551112">
                  <a:extLst>
                    <a:ext uri="{9D8B030D-6E8A-4147-A177-3AD203B41FA5}">
                      <a16:colId xmlns:a16="http://schemas.microsoft.com/office/drawing/2014/main" val="20004"/>
                    </a:ext>
                  </a:extLst>
                </a:gridCol>
                <a:gridCol w="3357563">
                  <a:extLst>
                    <a:ext uri="{9D8B030D-6E8A-4147-A177-3AD203B41FA5}">
                      <a16:colId xmlns:a16="http://schemas.microsoft.com/office/drawing/2014/main" val="20005"/>
                    </a:ext>
                  </a:extLst>
                </a:gridCol>
              </a:tblGrid>
              <a:tr h="708025">
                <a:tc>
                  <a:txBody>
                    <a:bodyPr/>
                    <a:lstStyle>
                      <a:lvl1pPr>
                        <a:lnSpc>
                          <a:spcPct val="93000"/>
                        </a:lnSpc>
                        <a:spcBef>
                          <a:spcPts val="145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1" fontAlgn="base" latinLnBrk="0" hangingPunct="0">
                        <a:lnSpc>
                          <a:spcPct val="93000"/>
                        </a:lnSpc>
                        <a:spcBef>
                          <a:spcPts val="15"/>
                        </a:spcBef>
                        <a:spcAft>
                          <a:spcPts val="15"/>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1" i="0" u="none" strike="noStrike" cap="none" normalizeH="0" baseline="0" dirty="0">
                          <a:ln>
                            <a:noFill/>
                          </a:ln>
                          <a:solidFill>
                            <a:srgbClr val="000000"/>
                          </a:solidFill>
                          <a:effectLst/>
                          <a:latin typeface="Arial" panose="020B0604020202020204" pitchFamily="34" charset="0"/>
                          <a:cs typeface="Noto Sans CJK SC" charset="0"/>
                        </a:rPr>
                        <a:t>S.no</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IN" altLang="en-US" sz="1600" b="1" i="0" u="none" strike="noStrike" cap="none" normalizeH="0" baseline="0" dirty="0">
                          <a:ln>
                            <a:noFill/>
                          </a:ln>
                          <a:solidFill>
                            <a:srgbClr val="000000"/>
                          </a:solidFill>
                          <a:effectLst/>
                          <a:latin typeface="Times New Roman" panose="02020603050405020304" pitchFamily="18" charset="0"/>
                          <a:cs typeface="DejaVu Sans" pitchFamily="32" charset="0"/>
                        </a:rPr>
                        <a:t>Title of the Article</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IN" altLang="en-US" sz="1600" b="1" i="0" u="none" strike="noStrike" cap="none" normalizeH="0" baseline="0">
                          <a:ln>
                            <a:noFill/>
                          </a:ln>
                          <a:solidFill>
                            <a:srgbClr val="000000"/>
                          </a:solidFill>
                          <a:effectLst/>
                          <a:latin typeface="Times New Roman" panose="02020603050405020304" pitchFamily="18" charset="0"/>
                          <a:cs typeface="DejaVu Sans" pitchFamily="32" charset="0"/>
                        </a:rPr>
                        <a:t>Published Year</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IN" altLang="en-US" sz="1600" b="1" i="0" u="none" strike="noStrike" cap="none" normalizeH="0" baseline="0" dirty="0">
                          <a:ln>
                            <a:noFill/>
                          </a:ln>
                          <a:solidFill>
                            <a:srgbClr val="000000"/>
                          </a:solidFill>
                          <a:effectLst/>
                          <a:latin typeface="Times New Roman" panose="02020603050405020304" pitchFamily="18" charset="0"/>
                          <a:cs typeface="DejaVu Sans" pitchFamily="32" charset="0"/>
                        </a:rPr>
                        <a:t>Author, Published by</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pPr>
                      <a:r>
                        <a:rPr kumimoji="0" lang="en-IN" altLang="en-US" sz="1600" b="1" i="0" u="none" strike="noStrike" cap="none" normalizeH="0" baseline="0" dirty="0">
                          <a:ln>
                            <a:noFill/>
                          </a:ln>
                          <a:solidFill>
                            <a:srgbClr val="000000"/>
                          </a:solidFill>
                          <a:effectLst/>
                          <a:latin typeface="Times New Roman" panose="02020603050405020304" pitchFamily="18" charset="0"/>
                          <a:cs typeface="DejaVu Sans" pitchFamily="32" charset="0"/>
                        </a:rPr>
                        <a:t>              Objectives</a:t>
                      </a:r>
                    </a:p>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endParaRPr kumimoji="0" lang="en-IN" altLang="en-US" sz="1600" b="1" i="0" u="none" strike="noStrike" cap="none" normalizeH="0" baseline="0" dirty="0">
                        <a:ln>
                          <a:noFill/>
                        </a:ln>
                        <a:solidFill>
                          <a:srgbClr val="000000"/>
                        </a:solidFill>
                        <a:effectLst/>
                        <a:latin typeface="Times New Roman" panose="02020603050405020304" pitchFamily="18" charset="0"/>
                        <a:cs typeface="DejaVu Sans" pitchFamily="32" charset="0"/>
                      </a:endParaRP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IN" altLang="en-US" sz="1600" b="1" i="0" u="none" strike="noStrike" cap="none" normalizeH="0" baseline="0" dirty="0">
                          <a:ln>
                            <a:noFill/>
                          </a:ln>
                          <a:solidFill>
                            <a:srgbClr val="000000"/>
                          </a:solidFill>
                          <a:effectLst/>
                          <a:latin typeface="Times New Roman" panose="02020603050405020304" pitchFamily="18" charset="0"/>
                          <a:cs typeface="DejaVu Sans" pitchFamily="32" charset="0"/>
                        </a:rPr>
                        <a:t>              Gap Identified</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77925">
                <a:tc>
                  <a:txBody>
                    <a:bodyPr/>
                    <a:lstStyle>
                      <a:lvl1pPr>
                        <a:lnSpc>
                          <a:spcPct val="93000"/>
                        </a:lnSpc>
                        <a:spcBef>
                          <a:spcPts val="145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1" fontAlgn="base" latinLnBrk="0" hangingPunct="0">
                        <a:lnSpc>
                          <a:spcPct val="93000"/>
                        </a:lnSpc>
                        <a:spcBef>
                          <a:spcPts val="15"/>
                        </a:spcBef>
                        <a:spcAft>
                          <a:spcPts val="15"/>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Noto Sans CJK SC" charset="0"/>
                        </a:rPr>
                        <a:t>3</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An Advanced and Secure Framework for Conducting Online Examination Using Blockchain Method</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lang="en-IN" sz="1200" dirty="0"/>
                        <a:t>202</a:t>
                      </a:r>
                      <a:r>
                        <a:rPr lang="en-US" altLang="en-IN" sz="1200" dirty="0"/>
                        <a:t>3</a:t>
                      </a:r>
                      <a:endParaRPr kumimoji="0" lang="en-US" altLang="en-IN" sz="1200" b="0" i="0" u="none" strike="noStrike" cap="none" normalizeH="0" baseline="0" dirty="0">
                        <a:ln>
                          <a:noFill/>
                        </a:ln>
                        <a:solidFill>
                          <a:srgbClr val="000000"/>
                        </a:solidFill>
                        <a:effectLst/>
                        <a:latin typeface="Arial" panose="020B0604020202020204" pitchFamily="34" charset="0"/>
                        <a:cs typeface="DejaVu Sans" pitchFamily="32" charset="0"/>
                      </a:endParaRP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Md Rahat Ibne Sattar, Md. Thowhid Bin Hossain Efty, Taiyaba Shadaka Rafa, Tusar Das, Md Sharif Samad, Abhijit Pathak, Mayeen Uddin Khandaker, Md. Habib Ullah; Elsevier B.V. (KeAi Communications)</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algn="just"/>
                      <a:r>
                        <a:rPr lang="en-US" altLang="en-US" sz="1200" dirty="0">
                          <a:latin typeface="Arial" panose="020B0604020202020204" pitchFamily="34" charset="0"/>
                          <a:cs typeface="Arial" panose="020B0604020202020204" pitchFamily="34" charset="0"/>
                        </a:rPr>
                        <a:t>Combines blockchain, AI, and RDP for identity fraud prevention and cheating detection (face recognition, noise detection, 360</a:t>
                      </a:r>
                      <a:r>
                        <a:rPr lang="" altLang="en-US" sz="1200" dirty="0">
                          <a:latin typeface="Arial" panose="020B0604020202020204" pitchFamily="34" charset="0"/>
                          <a:cs typeface="Arial" panose="020B0604020202020204" pitchFamily="34" charset="0"/>
                        </a:rPr>
                        <a:t>°</a:t>
                      </a:r>
                      <a:r>
                        <a:rPr lang="en-US" altLang="en-US" sz="1200" dirty="0">
                          <a:latin typeface="Arial" panose="020B0604020202020204" pitchFamily="34" charset="0"/>
                          <a:cs typeface="Arial" panose="020B0604020202020204" pitchFamily="34" charset="0"/>
                        </a:rPr>
                        <a:t> monitoring, plagiarism checks). Stores results immutably on blockchain.</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lang="en-US" altLang="en-US" sz="1200" dirty="0"/>
                        <a:t>Internet dependency, privacy concerns, and high implementation cost make adoption difficult in developing regions.</a:t>
                      </a:r>
                      <a:r>
                        <a:rPr lang="en-US" sz="1200" dirty="0"/>
                        <a:t>.</a:t>
                      </a:r>
                      <a:endPar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endParaRP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77925">
                <a:tc>
                  <a:txBody>
                    <a:bodyPr/>
                    <a:lstStyle>
                      <a:lvl1pPr>
                        <a:lnSpc>
                          <a:spcPct val="93000"/>
                        </a:lnSpc>
                        <a:spcBef>
                          <a:spcPts val="145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1" fontAlgn="base" latinLnBrk="0" hangingPunct="0">
                        <a:lnSpc>
                          <a:spcPct val="93000"/>
                        </a:lnSpc>
                        <a:spcBef>
                          <a:spcPts val="15"/>
                        </a:spcBef>
                        <a:spcAft>
                          <a:spcPts val="15"/>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Noto Sans CJK SC" charset="0"/>
                        </a:rPr>
                        <a:t>4</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Smart Contract Enabled Online Examination System Based in Blockchain Network</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2021</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Mr. Apoorv Jain, Dr. Arun Kumar Tripathi, Naresh Chandra, P. Chinnasamy; IEEE (ICCCI)</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lang="en-US" altLang="en-US" sz="1200" dirty="0"/>
                        <a:t>Ethereum-based exam system with smart contracts ensuring secure registration, MetaMask payments, and data transfer. Uses Proof-of-Stake consensus for tamper-proof records.</a:t>
                      </a:r>
                      <a:r>
                        <a:rPr lang="en-US" sz="1200" dirty="0"/>
                        <a:t>.</a:t>
                      </a:r>
                      <a:endPar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endParaRP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Focuses on Ethereum only; scalability, transaction fees, and usability challenges not fully addressed</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 name="Rectangle 1"/>
          <p:cNvSpPr>
            <a:spLocks noChangeArrowheads="1"/>
          </p:cNvSpPr>
          <p:nvPr/>
        </p:nvSpPr>
        <p:spPr bwMode="auto">
          <a:xfrm>
            <a:off x="358774" y="349222"/>
            <a:ext cx="10512425" cy="1323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spcBef>
                <a:spcPts val="40"/>
              </a:spcBef>
              <a:spcAft>
                <a:spcPts val="4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spcBef>
                <a:spcPts val="40"/>
              </a:spcBef>
              <a:spcAft>
                <a:spcPts val="4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spcBef>
                <a:spcPts val="40"/>
              </a:spcBef>
              <a:spcAft>
                <a:spcPts val="4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spcBef>
                <a:spcPts val="40"/>
              </a:spcBef>
              <a:spcAft>
                <a:spcPts val="4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9pPr>
          </a:lstStyle>
          <a:p>
            <a:pPr eaLnBrk="1" hangingPunct="1">
              <a:lnSpc>
                <a:spcPct val="90000"/>
              </a:lnSpc>
              <a:buClrTx/>
              <a:buFontTx/>
              <a:buNone/>
            </a:pPr>
            <a:r>
              <a:rPr lang="en-IN" altLang="en-US" sz="3200" b="1" dirty="0">
                <a:solidFill>
                  <a:srgbClr val="0070C0"/>
                </a:solidFill>
                <a:latin typeface="Times New Roman" panose="02020603050405020304" pitchFamily="18" charset="0"/>
              </a:rPr>
              <a:t>Literature</a:t>
            </a:r>
            <a:r>
              <a:rPr lang="en-IN" altLang="en-US" sz="3800" b="1" dirty="0">
                <a:solidFill>
                  <a:srgbClr val="0070C0"/>
                </a:solidFill>
                <a:latin typeface="Times New Roman" panose="02020603050405020304" pitchFamily="18" charset="0"/>
              </a:rPr>
              <a:t> </a:t>
            </a:r>
            <a:r>
              <a:rPr lang="en-IN" altLang="en-US" sz="3200" b="1" dirty="0">
                <a:solidFill>
                  <a:srgbClr val="0070C0"/>
                </a:solidFill>
                <a:latin typeface="Times New Roman" panose="02020603050405020304" pitchFamily="18" charset="0"/>
              </a:rPr>
              <a:t>Survey</a:t>
            </a:r>
            <a:r>
              <a:rPr lang="en-IN" altLang="en-US" sz="3800" b="1" dirty="0">
                <a:solidFill>
                  <a:srgbClr val="0070C0"/>
                </a:solidFill>
                <a:latin typeface="Times New Roman" panose="02020603050405020304" pitchFamily="18" charset="0"/>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34921" y="293274"/>
            <a:ext cx="10512425" cy="1323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spcBef>
                <a:spcPts val="40"/>
              </a:spcBef>
              <a:spcAft>
                <a:spcPts val="4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spcBef>
                <a:spcPts val="40"/>
              </a:spcBef>
              <a:spcAft>
                <a:spcPts val="4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spcBef>
                <a:spcPts val="40"/>
              </a:spcBef>
              <a:spcAft>
                <a:spcPts val="4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spcBef>
                <a:spcPts val="40"/>
              </a:spcBef>
              <a:spcAft>
                <a:spcPts val="4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9pPr>
          </a:lstStyle>
          <a:p>
            <a:pPr>
              <a:lnSpc>
                <a:spcPct val="90000"/>
              </a:lnSpc>
            </a:pPr>
            <a:r>
              <a:rPr lang="en-IN" altLang="en-US" sz="3200" b="1" dirty="0">
                <a:solidFill>
                  <a:srgbClr val="0070C0"/>
                </a:solidFill>
                <a:latin typeface="Times New Roman" panose="02020603050405020304" pitchFamily="18" charset="0"/>
              </a:rPr>
              <a:t>Literature Survey </a:t>
            </a:r>
          </a:p>
        </p:txBody>
      </p:sp>
      <p:graphicFrame>
        <p:nvGraphicFramePr>
          <p:cNvPr id="3" name="Group 2"/>
          <p:cNvGraphicFramePr>
            <a:graphicFrameLocks noGrp="1"/>
          </p:cNvGraphicFramePr>
          <p:nvPr/>
        </p:nvGraphicFramePr>
        <p:xfrm>
          <a:off x="334921" y="1438521"/>
          <a:ext cx="11698288" cy="4826446"/>
        </p:xfrm>
        <a:graphic>
          <a:graphicData uri="http://schemas.openxmlformats.org/drawingml/2006/table">
            <a:tbl>
              <a:tblPr/>
              <a:tblGrid>
                <a:gridCol w="409575">
                  <a:extLst>
                    <a:ext uri="{9D8B030D-6E8A-4147-A177-3AD203B41FA5}">
                      <a16:colId xmlns:a16="http://schemas.microsoft.com/office/drawing/2014/main" val="20000"/>
                    </a:ext>
                  </a:extLst>
                </a:gridCol>
                <a:gridCol w="1989138">
                  <a:extLst>
                    <a:ext uri="{9D8B030D-6E8A-4147-A177-3AD203B41FA5}">
                      <a16:colId xmlns:a16="http://schemas.microsoft.com/office/drawing/2014/main" val="20001"/>
                    </a:ext>
                  </a:extLst>
                </a:gridCol>
                <a:gridCol w="963723">
                  <a:extLst>
                    <a:ext uri="{9D8B030D-6E8A-4147-A177-3AD203B41FA5}">
                      <a16:colId xmlns:a16="http://schemas.microsoft.com/office/drawing/2014/main" val="20002"/>
                    </a:ext>
                  </a:extLst>
                </a:gridCol>
                <a:gridCol w="2138900">
                  <a:extLst>
                    <a:ext uri="{9D8B030D-6E8A-4147-A177-3AD203B41FA5}">
                      <a16:colId xmlns:a16="http://schemas.microsoft.com/office/drawing/2014/main" val="20003"/>
                    </a:ext>
                  </a:extLst>
                </a:gridCol>
                <a:gridCol w="2839389">
                  <a:extLst>
                    <a:ext uri="{9D8B030D-6E8A-4147-A177-3AD203B41FA5}">
                      <a16:colId xmlns:a16="http://schemas.microsoft.com/office/drawing/2014/main" val="20004"/>
                    </a:ext>
                  </a:extLst>
                </a:gridCol>
                <a:gridCol w="3357563">
                  <a:extLst>
                    <a:ext uri="{9D8B030D-6E8A-4147-A177-3AD203B41FA5}">
                      <a16:colId xmlns:a16="http://schemas.microsoft.com/office/drawing/2014/main" val="20005"/>
                    </a:ext>
                  </a:extLst>
                </a:gridCol>
              </a:tblGrid>
              <a:tr h="744560">
                <a:tc>
                  <a:txBody>
                    <a:bodyPr/>
                    <a:lstStyle>
                      <a:lvl1pPr>
                        <a:lnSpc>
                          <a:spcPct val="93000"/>
                        </a:lnSpc>
                        <a:spcBef>
                          <a:spcPts val="145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1" fontAlgn="base" latinLnBrk="0" hangingPunct="0">
                        <a:lnSpc>
                          <a:spcPct val="93000"/>
                        </a:lnSpc>
                        <a:spcBef>
                          <a:spcPts val="15"/>
                        </a:spcBef>
                        <a:spcAft>
                          <a:spcPts val="15"/>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1" i="0" u="none" strike="noStrike" cap="none" normalizeH="0" baseline="0" dirty="0">
                          <a:ln>
                            <a:noFill/>
                          </a:ln>
                          <a:solidFill>
                            <a:srgbClr val="000000"/>
                          </a:solidFill>
                          <a:effectLst/>
                          <a:latin typeface="Arial" panose="020B0604020202020204" pitchFamily="34" charset="0"/>
                          <a:cs typeface="Noto Sans CJK SC" charset="0"/>
                        </a:rPr>
                        <a:t>S.no</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IN" altLang="en-US" sz="1600" b="1" i="0" u="none" strike="noStrike" cap="none" normalizeH="0" baseline="0" dirty="0">
                          <a:ln>
                            <a:noFill/>
                          </a:ln>
                          <a:solidFill>
                            <a:srgbClr val="000000"/>
                          </a:solidFill>
                          <a:effectLst/>
                          <a:latin typeface="Times New Roman" panose="02020603050405020304" pitchFamily="18" charset="0"/>
                          <a:cs typeface="DejaVu Sans" pitchFamily="32" charset="0"/>
                        </a:rPr>
                        <a:t>Title of the Article</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IN" altLang="en-US" sz="1600" b="1" i="0" u="none" strike="noStrike" cap="none" normalizeH="0" baseline="0">
                          <a:ln>
                            <a:noFill/>
                          </a:ln>
                          <a:solidFill>
                            <a:srgbClr val="000000"/>
                          </a:solidFill>
                          <a:effectLst/>
                          <a:latin typeface="Times New Roman" panose="02020603050405020304" pitchFamily="18" charset="0"/>
                          <a:cs typeface="DejaVu Sans" pitchFamily="32" charset="0"/>
                        </a:rPr>
                        <a:t>Published Year</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IN" altLang="en-US" sz="1600" b="1" i="0" u="none" strike="noStrike" cap="none" normalizeH="0" baseline="0" dirty="0">
                          <a:ln>
                            <a:noFill/>
                          </a:ln>
                          <a:solidFill>
                            <a:srgbClr val="000000"/>
                          </a:solidFill>
                          <a:effectLst/>
                          <a:latin typeface="Times New Roman" panose="02020603050405020304" pitchFamily="18" charset="0"/>
                          <a:cs typeface="DejaVu Sans" pitchFamily="32" charset="0"/>
                        </a:rPr>
                        <a:t>Author, Published by</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pPr>
                      <a:r>
                        <a:rPr kumimoji="0" lang="en-IN" altLang="en-US" sz="1600" b="1" i="0" u="none" strike="noStrike" cap="none" normalizeH="0" baseline="0" dirty="0">
                          <a:ln>
                            <a:noFill/>
                          </a:ln>
                          <a:solidFill>
                            <a:srgbClr val="000000"/>
                          </a:solidFill>
                          <a:effectLst/>
                          <a:latin typeface="Times New Roman" panose="02020603050405020304" pitchFamily="18" charset="0"/>
                          <a:cs typeface="DejaVu Sans" pitchFamily="32" charset="0"/>
                        </a:rPr>
                        <a:t>                  Objectives</a:t>
                      </a:r>
                    </a:p>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endParaRPr kumimoji="0" lang="en-IN" altLang="en-US" sz="1600" b="1" i="0" u="none" strike="noStrike" cap="none" normalizeH="0" baseline="0" dirty="0">
                        <a:ln>
                          <a:noFill/>
                        </a:ln>
                        <a:solidFill>
                          <a:srgbClr val="000000"/>
                        </a:solidFill>
                        <a:effectLst/>
                        <a:latin typeface="Times New Roman" panose="02020603050405020304" pitchFamily="18" charset="0"/>
                        <a:cs typeface="DejaVu Sans" pitchFamily="32" charset="0"/>
                      </a:endParaRP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IN" altLang="en-US" sz="1600" b="1" i="0" u="none" strike="noStrike" cap="none" normalizeH="0" baseline="0" dirty="0">
                          <a:ln>
                            <a:noFill/>
                          </a:ln>
                          <a:solidFill>
                            <a:srgbClr val="000000"/>
                          </a:solidFill>
                          <a:effectLst/>
                          <a:latin typeface="Times New Roman" panose="02020603050405020304" pitchFamily="18" charset="0"/>
                          <a:cs typeface="DejaVu Sans" pitchFamily="32" charset="0"/>
                        </a:rPr>
                        <a:t>               Gap Identified</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39062">
                <a:tc>
                  <a:txBody>
                    <a:bodyPr/>
                    <a:lstStyle>
                      <a:lvl1pPr>
                        <a:lnSpc>
                          <a:spcPct val="93000"/>
                        </a:lnSpc>
                        <a:spcBef>
                          <a:spcPts val="145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1" fontAlgn="base" latinLnBrk="0" hangingPunct="0">
                        <a:lnSpc>
                          <a:spcPct val="93000"/>
                        </a:lnSpc>
                        <a:spcBef>
                          <a:spcPts val="15"/>
                        </a:spcBef>
                        <a:spcAft>
                          <a:spcPts val="15"/>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Noto Sans CJK SC" charset="0"/>
                        </a:rPr>
                        <a:t>5</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Secure Online Examination with Biometric Authentication and Blockchain-Based Framework (SEBB)</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2021</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Xiaoling Zhu, Chenglong Cao; Hindawi (Mathematical Problems in Engineering)</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914400" rtl="0" eaLnBrk="1" fontAlgn="auto" latinLnBrk="0" hangingPunct="1">
                        <a:lnSpc>
                          <a:spcPct val="93000"/>
                        </a:lnSpc>
                        <a:spcBef>
                          <a:spcPts val="1450"/>
                        </a:spcBef>
                        <a:spcAft>
                          <a:spcPts val="25"/>
                        </a:spcAft>
                        <a:buClrTx/>
                        <a:buSz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pPr>
                      <a:r>
                        <a:rPr lang="en-US" altLang="en-US" sz="1200" dirty="0">
                          <a:latin typeface="Arial" panose="020B0604020202020204" pitchFamily="34" charset="0"/>
                          <a:cs typeface="Arial" panose="020B0604020202020204" pitchFamily="34" charset="0"/>
                        </a:rPr>
                        <a:t>Integrates biometric authentication with blockchain using fuzzy vault, attribute-based encryption, and consortium blockchain for exam integrity and dispute resolution.</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Limited to biometric focus; practical deployment issues like privacy risks and infrastructure needs not fully resolved.</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42824">
                <a:tc>
                  <a:txBody>
                    <a:bodyPr/>
                    <a:lstStyle>
                      <a:lvl1pPr>
                        <a:lnSpc>
                          <a:spcPct val="93000"/>
                        </a:lnSpc>
                        <a:spcBef>
                          <a:spcPts val="145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1" fontAlgn="base" latinLnBrk="0" hangingPunct="0">
                        <a:lnSpc>
                          <a:spcPct val="93000"/>
                        </a:lnSpc>
                        <a:spcBef>
                          <a:spcPts val="15"/>
                        </a:spcBef>
                        <a:spcAft>
                          <a:spcPts val="15"/>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Noto Sans CJK SC" charset="0"/>
                        </a:rPr>
                        <a:t>6</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A Blockchain-based File-sharing System for Academic Paper Review</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2020</a:t>
                      </a:r>
                    </a:p>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endPar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endParaRP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Ian Zhou, Imran Makhdoom, Mehran Abolhasan, Justin Lipman, Negin Shariati; IEEE</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Proposes blockchain-based double-blind peer-review using Hyperledger Fabric + IPFS. Introduces “AcadCoin” for incentivizing reviewers and ensures transparency in publishing.</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Not directly exam-focused; limited scope to academic publishing and peer review.</a:t>
                      </a:r>
                    </a:p>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pPr>
                      <a:endPar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endParaRP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34921" y="293274"/>
            <a:ext cx="10512425" cy="1323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spcBef>
                <a:spcPts val="40"/>
              </a:spcBef>
              <a:spcAft>
                <a:spcPts val="4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spcBef>
                <a:spcPts val="40"/>
              </a:spcBef>
              <a:spcAft>
                <a:spcPts val="4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spcBef>
                <a:spcPts val="40"/>
              </a:spcBef>
              <a:spcAft>
                <a:spcPts val="4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spcBef>
                <a:spcPts val="40"/>
              </a:spcBef>
              <a:spcAft>
                <a:spcPts val="4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Arial" panose="020B0604020202020204" pitchFamily="34" charset="0"/>
                <a:cs typeface="DejaVu Sans" pitchFamily="32" charset="0"/>
              </a:defRPr>
            </a:lvl9pPr>
          </a:lstStyle>
          <a:p>
            <a:pPr>
              <a:lnSpc>
                <a:spcPct val="90000"/>
              </a:lnSpc>
            </a:pPr>
            <a:r>
              <a:rPr lang="en-IN" altLang="en-US" sz="3200" b="1" dirty="0">
                <a:solidFill>
                  <a:srgbClr val="0070C0"/>
                </a:solidFill>
                <a:latin typeface="Times New Roman" panose="02020603050405020304" pitchFamily="18" charset="0"/>
              </a:rPr>
              <a:t>Literature Survey </a:t>
            </a:r>
          </a:p>
        </p:txBody>
      </p:sp>
      <p:graphicFrame>
        <p:nvGraphicFramePr>
          <p:cNvPr id="4" name="Group 2"/>
          <p:cNvGraphicFramePr>
            <a:graphicFrameLocks noGrp="1"/>
          </p:cNvGraphicFramePr>
          <p:nvPr>
            <p:custDataLst>
              <p:tags r:id="rId1"/>
            </p:custDataLst>
            <p:extLst>
              <p:ext uri="{D42A27DB-BD31-4B8C-83A1-F6EECF244321}">
                <p14:modId xmlns:p14="http://schemas.microsoft.com/office/powerpoint/2010/main" val="2299696063"/>
              </p:ext>
            </p:extLst>
          </p:nvPr>
        </p:nvGraphicFramePr>
        <p:xfrm>
          <a:off x="334645" y="1617345"/>
          <a:ext cx="11741150" cy="1905635"/>
        </p:xfrm>
        <a:graphic>
          <a:graphicData uri="http://schemas.openxmlformats.org/drawingml/2006/table">
            <a:tbl>
              <a:tblPr/>
              <a:tblGrid>
                <a:gridCol w="409575">
                  <a:extLst>
                    <a:ext uri="{9D8B030D-6E8A-4147-A177-3AD203B41FA5}">
                      <a16:colId xmlns:a16="http://schemas.microsoft.com/office/drawing/2014/main" val="20000"/>
                    </a:ext>
                  </a:extLst>
                </a:gridCol>
                <a:gridCol w="1989455">
                  <a:extLst>
                    <a:ext uri="{9D8B030D-6E8A-4147-A177-3AD203B41FA5}">
                      <a16:colId xmlns:a16="http://schemas.microsoft.com/office/drawing/2014/main" val="20001"/>
                    </a:ext>
                  </a:extLst>
                </a:gridCol>
                <a:gridCol w="1423670">
                  <a:extLst>
                    <a:ext uri="{9D8B030D-6E8A-4147-A177-3AD203B41FA5}">
                      <a16:colId xmlns:a16="http://schemas.microsoft.com/office/drawing/2014/main" val="20002"/>
                    </a:ext>
                  </a:extLst>
                </a:gridCol>
                <a:gridCol w="1967230">
                  <a:extLst>
                    <a:ext uri="{9D8B030D-6E8A-4147-A177-3AD203B41FA5}">
                      <a16:colId xmlns:a16="http://schemas.microsoft.com/office/drawing/2014/main" val="20003"/>
                    </a:ext>
                  </a:extLst>
                </a:gridCol>
                <a:gridCol w="2550795">
                  <a:extLst>
                    <a:ext uri="{9D8B030D-6E8A-4147-A177-3AD203B41FA5}">
                      <a16:colId xmlns:a16="http://schemas.microsoft.com/office/drawing/2014/main" val="20004"/>
                    </a:ext>
                  </a:extLst>
                </a:gridCol>
                <a:gridCol w="3400425">
                  <a:extLst>
                    <a:ext uri="{9D8B030D-6E8A-4147-A177-3AD203B41FA5}">
                      <a16:colId xmlns:a16="http://schemas.microsoft.com/office/drawing/2014/main" val="20005"/>
                    </a:ext>
                  </a:extLst>
                </a:gridCol>
              </a:tblGrid>
              <a:tr h="715645">
                <a:tc>
                  <a:txBody>
                    <a:bodyPr/>
                    <a:lstStyle>
                      <a:lvl1pPr>
                        <a:lnSpc>
                          <a:spcPct val="93000"/>
                        </a:lnSpc>
                        <a:spcBef>
                          <a:spcPts val="145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1" fontAlgn="base" latinLnBrk="0" hangingPunct="0">
                        <a:lnSpc>
                          <a:spcPct val="93000"/>
                        </a:lnSpc>
                        <a:spcBef>
                          <a:spcPts val="15"/>
                        </a:spcBef>
                        <a:spcAft>
                          <a:spcPts val="15"/>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1" i="0" u="none" strike="noStrike" cap="none" normalizeH="0" baseline="0" dirty="0">
                          <a:ln>
                            <a:noFill/>
                          </a:ln>
                          <a:solidFill>
                            <a:srgbClr val="000000"/>
                          </a:solidFill>
                          <a:effectLst/>
                          <a:latin typeface="Arial" panose="020B0604020202020204" pitchFamily="34" charset="0"/>
                          <a:cs typeface="Noto Sans CJK SC" charset="0"/>
                        </a:rPr>
                        <a:t>S.no</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IN" altLang="en-US" sz="1600" b="1" i="0" u="none" strike="noStrike" cap="none" normalizeH="0" baseline="0" dirty="0">
                          <a:ln>
                            <a:noFill/>
                          </a:ln>
                          <a:solidFill>
                            <a:srgbClr val="000000"/>
                          </a:solidFill>
                          <a:effectLst/>
                          <a:latin typeface="Times New Roman" panose="02020603050405020304" pitchFamily="18" charset="0"/>
                          <a:cs typeface="DejaVu Sans" pitchFamily="32" charset="0"/>
                        </a:rPr>
                        <a:t>Title of the Article</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IN" altLang="en-US" sz="1600" b="1" i="0" u="none" strike="noStrike" cap="none" normalizeH="0" baseline="0">
                          <a:ln>
                            <a:noFill/>
                          </a:ln>
                          <a:solidFill>
                            <a:srgbClr val="000000"/>
                          </a:solidFill>
                          <a:effectLst/>
                          <a:latin typeface="Times New Roman" panose="02020603050405020304" pitchFamily="18" charset="0"/>
                          <a:cs typeface="DejaVu Sans" pitchFamily="32" charset="0"/>
                        </a:rPr>
                        <a:t>Published Year</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IN" altLang="en-US" sz="1600" b="1" i="0" u="none" strike="noStrike" cap="none" normalizeH="0" baseline="0" dirty="0">
                          <a:ln>
                            <a:noFill/>
                          </a:ln>
                          <a:solidFill>
                            <a:srgbClr val="000000"/>
                          </a:solidFill>
                          <a:effectLst/>
                          <a:latin typeface="Times New Roman" panose="02020603050405020304" pitchFamily="18" charset="0"/>
                          <a:cs typeface="DejaVu Sans" pitchFamily="32" charset="0"/>
                        </a:rPr>
                        <a:t>Author, Published by</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pPr>
                      <a:r>
                        <a:rPr kumimoji="0" lang="en-IN" altLang="en-US" sz="1600" b="1" i="0" u="none" strike="noStrike" cap="none" normalizeH="0" baseline="0" dirty="0">
                          <a:ln>
                            <a:noFill/>
                          </a:ln>
                          <a:solidFill>
                            <a:srgbClr val="000000"/>
                          </a:solidFill>
                          <a:effectLst/>
                          <a:latin typeface="Times New Roman" panose="02020603050405020304" pitchFamily="18" charset="0"/>
                          <a:cs typeface="DejaVu Sans" pitchFamily="32" charset="0"/>
                        </a:rPr>
                        <a:t>             Objectives</a:t>
                      </a:r>
                    </a:p>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endParaRPr kumimoji="0" lang="en-IN" altLang="en-US" sz="1600" b="1" i="0" u="none" strike="noStrike" cap="none" normalizeH="0" baseline="0" dirty="0">
                        <a:ln>
                          <a:noFill/>
                        </a:ln>
                        <a:solidFill>
                          <a:srgbClr val="000000"/>
                        </a:solidFill>
                        <a:effectLst/>
                        <a:latin typeface="Times New Roman" panose="02020603050405020304" pitchFamily="18" charset="0"/>
                        <a:cs typeface="DejaVu Sans" pitchFamily="32" charset="0"/>
                      </a:endParaRP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IN" altLang="en-US" sz="1600" b="1" i="0" u="none" strike="noStrike" cap="none" normalizeH="0" baseline="0" dirty="0">
                          <a:ln>
                            <a:noFill/>
                          </a:ln>
                          <a:solidFill>
                            <a:srgbClr val="000000"/>
                          </a:solidFill>
                          <a:effectLst/>
                          <a:latin typeface="Times New Roman" panose="02020603050405020304" pitchFamily="18" charset="0"/>
                          <a:cs typeface="DejaVu Sans" pitchFamily="32" charset="0"/>
                        </a:rPr>
                        <a:t>               Gap Identified</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89990">
                <a:tc>
                  <a:txBody>
                    <a:bodyPr/>
                    <a:lstStyle>
                      <a:lvl1pPr>
                        <a:lnSpc>
                          <a:spcPct val="93000"/>
                        </a:lnSpc>
                        <a:spcBef>
                          <a:spcPts val="145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l" defTabSz="457200" rtl="0" eaLnBrk="1" fontAlgn="base" latinLnBrk="0" hangingPunct="0">
                        <a:lnSpc>
                          <a:spcPct val="93000"/>
                        </a:lnSpc>
                        <a:spcBef>
                          <a:spcPts val="15"/>
                        </a:spcBef>
                        <a:spcAft>
                          <a:spcPts val="15"/>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Noto Sans CJK SC" charset="0"/>
                        </a:rPr>
                        <a:t>7</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Online Test and Management System Using Blockchain Network</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2019</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Seung Jae Pee, Eung Seon Kang, Jae Geun Song, Ju Wook Jang; ICACT</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algn="just"/>
                      <a:r>
                        <a:rPr lang="en-US" altLang="en-US" sz="1200" dirty="0">
                          <a:latin typeface="Arial" panose="020B0604020202020204" pitchFamily="34" charset="0"/>
                          <a:cs typeface="Arial" panose="020B0604020202020204" pitchFamily="34" charset="0"/>
                        </a:rPr>
                        <a:t>Blockchain-based online exam system ensuring data integrity, confidentiality, and role-based access control (CP-ABE). Uses smart contracts for grading and prevents tampering.</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3000"/>
                        </a:lnSpc>
                        <a:spcBef>
                          <a:spcPts val="145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1pPr>
                      <a:lvl2pPr>
                        <a:lnSpc>
                          <a:spcPct val="93000"/>
                        </a:lnSpc>
                        <a:spcBef>
                          <a:spcPts val="11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2pPr>
                      <a:lvl3pPr>
                        <a:lnSpc>
                          <a:spcPct val="93000"/>
                        </a:lnSpc>
                        <a:spcBef>
                          <a:spcPts val="87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3pPr>
                      <a:lvl4pPr>
                        <a:lnSpc>
                          <a:spcPct val="93000"/>
                        </a:lnSpc>
                        <a:spcBef>
                          <a:spcPts val="600"/>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sz="1600">
                          <a:solidFill>
                            <a:srgbClr val="000000"/>
                          </a:solidFill>
                          <a:latin typeface="Arial" panose="020B0604020202020204" pitchFamily="34" charset="0"/>
                          <a:cs typeface="DejaVu Sans" pitchFamily="32" charset="0"/>
                        </a:defRPr>
                      </a:lvl4pPr>
                      <a:lvl5pPr>
                        <a:lnSpc>
                          <a:spcPct val="93000"/>
                        </a:lnSpc>
                        <a:spcBef>
                          <a:spcPts val="325"/>
                        </a:spcBef>
                        <a:spcAft>
                          <a:spcPts val="25"/>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5pPr>
                      <a:lvl6pPr marL="25146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6pPr>
                      <a:lvl7pPr marL="29718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7pPr>
                      <a:lvl8pPr marL="34290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8pPr>
                      <a:lvl9pPr marL="3886200" indent="-228600" defTabSz="457200" eaLnBrk="0" fontAlgn="base" hangingPunct="0">
                        <a:lnSpc>
                          <a:spcPct val="93000"/>
                        </a:lnSpc>
                        <a:spcBef>
                          <a:spcPts val="325"/>
                        </a:spcBef>
                        <a:spcAft>
                          <a:spcPts val="25"/>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defRPr>
                          <a:solidFill>
                            <a:srgbClr val="000000"/>
                          </a:solidFill>
                          <a:latin typeface="Arial" panose="020B0604020202020204" pitchFamily="34" charset="0"/>
                          <a:cs typeface="DejaVu Sans" pitchFamily="32" charset="0"/>
                        </a:defRPr>
                      </a:lvl9pPr>
                    </a:lstStyle>
                    <a:p>
                      <a:pPr marL="0" marR="0" lvl="0" indent="0" algn="just" defTabSz="457200" rtl="0" eaLnBrk="0" fontAlgn="base" latinLnBrk="0" hangingPunct="0">
                        <a:lnSpc>
                          <a:spcPct val="93000"/>
                        </a:lnSpc>
                        <a:spcBef>
                          <a:spcPts val="40"/>
                        </a:spcBef>
                        <a:spcAft>
                          <a:spcPts val="40"/>
                        </a:spcAft>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 pos="10972800" algn="l"/>
                          <a:tab pos="11430000" algn="l"/>
                        </a:tabLst>
                      </a:pPr>
                      <a:r>
                        <a:rPr kumimoji="0" lang="en-US" altLang="en-US" sz="1200" b="0" i="0" u="none" strike="noStrike" cap="none" normalizeH="0" baseline="0" dirty="0">
                          <a:ln>
                            <a:noFill/>
                          </a:ln>
                          <a:solidFill>
                            <a:srgbClr val="000000"/>
                          </a:solidFill>
                          <a:effectLst/>
                          <a:latin typeface="Arial" panose="020B0604020202020204" pitchFamily="34" charset="0"/>
                          <a:cs typeface="DejaVu Sans" pitchFamily="32" charset="0"/>
                        </a:rPr>
                        <a:t>Early-stage model; lacks advanced monitoring (AI/biometrics) and does not consider scalability for mass adoption.</a:t>
                      </a:r>
                    </a:p>
                  </a:txBody>
                  <a:tcPr marL="36000" marR="36000" marT="36000" marB="36000" horzOverflow="overflow">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388" y="388979"/>
            <a:ext cx="2936240" cy="803275"/>
          </a:xfrm>
        </p:spPr>
        <p:txBody>
          <a:bodyPr>
            <a:noAutofit/>
          </a:bodyPr>
          <a:lstStyle/>
          <a:p>
            <a:r>
              <a:rPr lang="en-IN" sz="3200" b="1" dirty="0">
                <a:solidFill>
                  <a:srgbClr val="0070C0"/>
                </a:solidFill>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a:xfrm>
            <a:off x="154388" y="1518259"/>
            <a:ext cx="11883224" cy="5252912"/>
          </a:xfrm>
        </p:spPr>
        <p:txBody>
          <a:bodyPr>
            <a:noAutofit/>
          </a:bodyPr>
          <a:lstStyle/>
          <a:p>
            <a:pPr marL="0" indent="0" algn="just" eaLnBrk="0" fontAlgn="base" hangingPunct="0">
              <a:lnSpc>
                <a:spcPct val="100000"/>
              </a:lnSpc>
              <a:spcBef>
                <a:spcPct val="0"/>
              </a:spcBef>
              <a:spcAft>
                <a:spcPct val="0"/>
              </a:spcAft>
              <a:buNone/>
            </a:pPr>
            <a:r>
              <a:rPr lang="en-US" sz="2000" dirty="0">
                <a:latin typeface="Times New Roman" panose="02020603050405020304" pitchFamily="18" charset="0"/>
                <a:cs typeface="Times New Roman" panose="02020603050405020304" pitchFamily="18" charset="0"/>
              </a:rPr>
              <a:t>1. Local Encrypted Chunk Storage, Increase the security of exam content by dividing each question paper into multiple encrypted chunks and storing them locally instead of using external blockchain storage like Ethereum.</a:t>
            </a:r>
          </a:p>
          <a:p>
            <a:pPr marL="0" indent="0" algn="just" eaLnBrk="0" fontAlgn="base" hangingPunct="0">
              <a:lnSpc>
                <a:spcPct val="100000"/>
              </a:lnSpc>
              <a:spcBef>
                <a:spcPct val="0"/>
              </a:spcBef>
              <a:spcAft>
                <a:spcPct val="0"/>
              </a:spcAft>
              <a:buNone/>
            </a:pPr>
            <a:endParaRPr lang="en-US" sz="2000" dirty="0">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None/>
            </a:pPr>
            <a:r>
              <a:rPr lang="en-US" sz="2000" dirty="0">
                <a:latin typeface="Times New Roman" panose="02020603050405020304" pitchFamily="18" charset="0"/>
                <a:cs typeface="Times New Roman" panose="02020603050405020304" pitchFamily="18" charset="0"/>
              </a:rPr>
              <a:t>2. Designing a robust system that supports online mode of examination, ensuring flexibility and accessibility.</a:t>
            </a:r>
          </a:p>
          <a:p>
            <a:pPr marL="0" indent="0" algn="just" eaLnBrk="0" fontAlgn="base" hangingPunct="0">
              <a:lnSpc>
                <a:spcPct val="100000"/>
              </a:lnSpc>
              <a:spcBef>
                <a:spcPct val="0"/>
              </a:spcBef>
              <a:spcAft>
                <a:spcPct val="0"/>
              </a:spcAft>
              <a:buNone/>
            </a:pPr>
            <a:endParaRPr lang="en-US" sz="2000" dirty="0">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None/>
            </a:pPr>
            <a:r>
              <a:rPr lang="en-US" sz="2000" dirty="0">
                <a:latin typeface="Times New Roman" panose="02020603050405020304" pitchFamily="18" charset="0"/>
                <a:cs typeface="Times New Roman" panose="02020603050405020304" pitchFamily="18" charset="0"/>
              </a:rPr>
              <a:t>3.Tamper-proof approach to question paper management that safeguards against unauthorized access and potential leaks.</a:t>
            </a:r>
          </a:p>
          <a:p>
            <a:pPr marL="0" indent="0" algn="just" eaLnBrk="0" fontAlgn="base" hangingPunct="0">
              <a:lnSpc>
                <a:spcPct val="100000"/>
              </a:lnSpc>
              <a:spcBef>
                <a:spcPct val="0"/>
              </a:spcBef>
              <a:spcAft>
                <a:spcPct val="0"/>
              </a:spcAft>
              <a:buNone/>
            </a:pPr>
            <a:endParaRPr lang="en-US" sz="2000" dirty="0">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None/>
            </a:pPr>
            <a:r>
              <a:rPr lang="en-US" sz="2000" dirty="0">
                <a:latin typeface="Times New Roman" panose="02020603050405020304" pitchFamily="18" charset="0"/>
                <a:cs typeface="Times New Roman" panose="02020603050405020304" pitchFamily="18" charset="0"/>
              </a:rPr>
              <a:t>4. Providing a user-friendly interface for teachers, administrators, and students.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2498" y="1054359"/>
            <a:ext cx="7371183" cy="5803641"/>
          </a:xfrm>
          <a:prstGeom prst="rect">
            <a:avLst/>
          </a:prstGeom>
        </p:spPr>
      </p:pic>
      <p:sp>
        <p:nvSpPr>
          <p:cNvPr id="5" name="TextBox 4"/>
          <p:cNvSpPr txBox="1"/>
          <p:nvPr/>
        </p:nvSpPr>
        <p:spPr>
          <a:xfrm>
            <a:off x="335902" y="223935"/>
            <a:ext cx="11411339" cy="584775"/>
          </a:xfrm>
          <a:prstGeom prst="rect">
            <a:avLst/>
          </a:prstGeom>
          <a:noFill/>
        </p:spPr>
        <p:txBody>
          <a:bodyPr wrap="square" rtlCol="0">
            <a:spAutoFit/>
          </a:bodyPr>
          <a:lstStyle/>
          <a:p>
            <a:r>
              <a:rPr lang="en-US" sz="3200" b="1" dirty="0">
                <a:solidFill>
                  <a:schemeClr val="accent1"/>
                </a:solidFill>
                <a:latin typeface="Times New Roman" panose="02020603050405020304" pitchFamily="18" charset="0"/>
                <a:cs typeface="Times New Roman" panose="02020603050405020304" pitchFamily="18" charset="0"/>
              </a:rPr>
              <a:t>Design Framework</a:t>
            </a:r>
            <a:endParaRPr lang="en-IN" sz="3200" b="1"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2555" y="326571"/>
            <a:ext cx="11336694" cy="584775"/>
          </a:xfrm>
          <a:prstGeom prst="rect">
            <a:avLst/>
          </a:prstGeom>
          <a:noFill/>
        </p:spPr>
        <p:txBody>
          <a:bodyPr wrap="square" rtlCol="0">
            <a:spAutoFit/>
          </a:bodyPr>
          <a:lstStyle/>
          <a:p>
            <a:r>
              <a:rPr lang="en-US" sz="3200" b="1" dirty="0">
                <a:solidFill>
                  <a:schemeClr val="accent1"/>
                </a:solidFill>
                <a:latin typeface="Times New Roman" panose="02020603050405020304" pitchFamily="18" charset="0"/>
                <a:cs typeface="Times New Roman" panose="02020603050405020304" pitchFamily="18" charset="0"/>
              </a:rPr>
              <a:t>Implemented</a:t>
            </a:r>
            <a:r>
              <a:rPr lang="en-US" b="1" dirty="0">
                <a:solidFill>
                  <a:schemeClr val="accent1"/>
                </a:solidFill>
              </a:rPr>
              <a:t> </a:t>
            </a:r>
            <a:r>
              <a:rPr lang="en-US" sz="3200" b="1" dirty="0">
                <a:solidFill>
                  <a:schemeClr val="accent1"/>
                </a:solidFill>
                <a:latin typeface="Times New Roman" panose="02020603050405020304" pitchFamily="18" charset="0"/>
                <a:cs typeface="Times New Roman" panose="02020603050405020304" pitchFamily="18" charset="0"/>
              </a:rPr>
              <a:t>Module</a:t>
            </a:r>
            <a:endParaRPr lang="en-IN" sz="3200" b="1" dirty="0">
              <a:solidFill>
                <a:schemeClr val="accent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DD9D153-9F46-B704-7804-56B263B16B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0337" y="1147009"/>
            <a:ext cx="9604272" cy="523710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CCDBB2-F22C-5B31-DF11-BB5791A41B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529" y="1018674"/>
            <a:ext cx="9789366" cy="524576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4563" y="317241"/>
            <a:ext cx="11327364" cy="584775"/>
          </a:xfrm>
          <a:prstGeom prst="rect">
            <a:avLst/>
          </a:prstGeom>
          <a:noFill/>
        </p:spPr>
        <p:txBody>
          <a:bodyPr wrap="square" rtlCol="0">
            <a:spAutoFit/>
          </a:bodyPr>
          <a:lstStyle/>
          <a:p>
            <a:r>
              <a:rPr lang="en-US" sz="3200" b="1" dirty="0">
                <a:solidFill>
                  <a:schemeClr val="accent1"/>
                </a:solidFill>
              </a:rPr>
              <a:t>Expected Outcomes</a:t>
            </a:r>
            <a:endParaRPr lang="en-IN" sz="3200" b="1" dirty="0">
              <a:solidFill>
                <a:schemeClr val="accent1"/>
              </a:solidFill>
            </a:endParaRPr>
          </a:p>
        </p:txBody>
      </p:sp>
      <p:sp>
        <p:nvSpPr>
          <p:cNvPr id="8" name="TextBox 7"/>
          <p:cNvSpPr txBox="1"/>
          <p:nvPr/>
        </p:nvSpPr>
        <p:spPr>
          <a:xfrm>
            <a:off x="111967" y="902016"/>
            <a:ext cx="12080033" cy="6001643"/>
          </a:xfrm>
          <a:prstGeom prst="rect">
            <a:avLst/>
          </a:prstGeom>
          <a:noFill/>
        </p:spPr>
        <p:txBody>
          <a:bodyPr wrap="square" rtlCol="0">
            <a:spAutoFit/>
          </a:bodyPr>
          <a:lstStyle/>
          <a:p>
            <a:pPr marL="342900" indent="-342900" algn="just">
              <a:buFont typeface="Arial" panose="020B0604020202020204" pitchFamily="34" charset="0"/>
              <a:buChar char="•"/>
            </a:pPr>
            <a:r>
              <a:rPr lang="en-US" sz="2400" b="1" dirty="0"/>
              <a:t>Secure Exam Management</a:t>
            </a:r>
            <a:r>
              <a:rPr lang="en-US" sz="2400" dirty="0"/>
              <a:t> – Exams stored as encrypted blockchain chunks, ensuring no unauthorized tampering.</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b="1" dirty="0"/>
              <a:t>Confidentiality</a:t>
            </a:r>
            <a:r>
              <a:rPr lang="en-US" sz="2400" dirty="0"/>
              <a:t> – Questions remain hidden even if the database is compromised, due to AES-256-CBC encryption.</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b="1" dirty="0"/>
              <a:t>Transparent Monitoring</a:t>
            </a:r>
            <a:r>
              <a:rPr lang="en-US" sz="2400" dirty="0"/>
              <a:t> –Tracking of registrations, exam progress, and results through the database manager.</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b="1" dirty="0"/>
              <a:t>Fair Evaluation</a:t>
            </a:r>
            <a:r>
              <a:rPr lang="en-US" sz="2400" dirty="0"/>
              <a:t> – Automatic validation and grading system ensures fairness for all students</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b="1" dirty="0"/>
              <a:t>User Role Management</a:t>
            </a:r>
            <a:r>
              <a:rPr lang="en-US" sz="2400" dirty="0"/>
              <a:t> – Admin, Teacher, and Student roles clearly separated, ensuring controlled access.</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b="1" dirty="0"/>
              <a:t>Scalability</a:t>
            </a:r>
            <a:r>
              <a:rPr lang="en-US" sz="2400" dirty="0"/>
              <a:t> – Chunking mechanism allows large exams to be securely stored and processed without performance issues.</a:t>
            </a:r>
            <a:endParaRPr lang="en-IN"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5686" y="401216"/>
            <a:ext cx="11560628" cy="584775"/>
          </a:xfrm>
          <a:prstGeom prst="rect">
            <a:avLst/>
          </a:prstGeom>
          <a:noFill/>
        </p:spPr>
        <p:txBody>
          <a:bodyPr wrap="square" rtlCol="0">
            <a:spAutoFit/>
          </a:bodyPr>
          <a:lstStyle/>
          <a:p>
            <a:r>
              <a:rPr lang="en-US" sz="3200" b="1" dirty="0">
                <a:solidFill>
                  <a:schemeClr val="accent1"/>
                </a:solidFill>
                <a:latin typeface="Times New Roman" panose="02020603050405020304" pitchFamily="18" charset="0"/>
                <a:cs typeface="Times New Roman" panose="02020603050405020304" pitchFamily="18" charset="0"/>
              </a:rPr>
              <a:t>Conclusion</a:t>
            </a:r>
            <a:endParaRPr lang="en-IN" sz="3200" b="1" dirty="0">
              <a:solidFill>
                <a:schemeClr val="accent1"/>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315686" y="1464906"/>
            <a:ext cx="11179628" cy="1938992"/>
          </a:xfrm>
          <a:prstGeom prst="rect">
            <a:avLst/>
          </a:prstGeom>
          <a:noFill/>
        </p:spPr>
        <p:txBody>
          <a:bodyPr wrap="square" rtlCol="0">
            <a:spAutoFit/>
          </a:bodyPr>
          <a:lstStyle/>
          <a:p>
            <a:pPr algn="just"/>
            <a:r>
              <a:rPr lang="en-US" sz="2400" dirty="0"/>
              <a:t>The project demonstrates how blockchain-inspired security principles can revolutionize online examinations. By combining encryption, hashing, and chaining, we ensure exam data is both secure and tamper-proof. Unlike traditional exam systems, this solution guarantees confidentiality, integrity, and authenticity from exam creation to result publication.</a:t>
            </a:r>
            <a:endParaRPr lang="en-IN" sz="24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921*243"/>
  <p:tag name="TABLE_ENDDRAG_RECT" val="26*127*921*24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1143</Words>
  <Application>Microsoft Office PowerPoint</Application>
  <PresentationFormat>Widescreen</PresentationFormat>
  <Paragraphs>116</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Open Sans</vt:lpstr>
      <vt:lpstr>Times New Roman</vt:lpstr>
      <vt:lpstr>Office Theme</vt:lpstr>
      <vt:lpstr>PowerPoint Presentation</vt:lpstr>
      <vt:lpstr>Introduction</vt:lpstr>
      <vt:lpstr>PowerPoint Presentation</vt:lpstr>
      <vt:lpstr>PowerPoint Presentation</vt:lpstr>
      <vt:lpstr>PowerPoint Presentation</vt:lpstr>
      <vt:lpstr>PowerPoint Presentation</vt:lpstr>
      <vt:lpstr>Objectives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suman</dc:creator>
  <cp:lastModifiedBy>AMAN KUMAR CHAUHAN</cp:lastModifiedBy>
  <cp:revision>40</cp:revision>
  <dcterms:created xsi:type="dcterms:W3CDTF">2025-04-14T10:42:00Z</dcterms:created>
  <dcterms:modified xsi:type="dcterms:W3CDTF">2025-09-27T03:28:39Z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C4357296D0C14D25B7801D8053B75835_13</vt:lpwstr>
  </property>
  <property fmtid="{D5CDD505-2E9C-101B-9397-08002B2CF9AE}" pid="3" name="KSOProductBuildVer">
    <vt:lpwstr>1033-12.2.0.22222</vt:lpwstr>
  </property>
</Properties>
</file>